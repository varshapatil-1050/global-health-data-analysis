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8288000" cy="10287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Canva Sans Bold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230" y="-4251730"/>
            <a:ext cx="18790459" cy="18790459"/>
          </a:xfrm>
          <a:custGeom>
            <a:avLst/>
            <a:gdLst/>
            <a:ahLst/>
            <a:cxnLst/>
            <a:rect l="l" t="t" r="r" b="b"/>
            <a:pathLst>
              <a:path w="18790459" h="18790459">
                <a:moveTo>
                  <a:pt x="0" y="0"/>
                </a:moveTo>
                <a:lnTo>
                  <a:pt x="18790460" y="0"/>
                </a:lnTo>
                <a:lnTo>
                  <a:pt x="18790460" y="18790460"/>
                </a:lnTo>
                <a:lnTo>
                  <a:pt x="0" y="187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0962" y="1028700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63403" y="5496697"/>
            <a:ext cx="5604976" cy="3761603"/>
          </a:xfrm>
          <a:custGeom>
            <a:avLst/>
            <a:gdLst/>
            <a:ahLst/>
            <a:cxnLst/>
            <a:rect l="l" t="t" r="r" b="b"/>
            <a:pathLst>
              <a:path w="5604976" h="3761603">
                <a:moveTo>
                  <a:pt x="0" y="0"/>
                </a:moveTo>
                <a:lnTo>
                  <a:pt x="5604976" y="0"/>
                </a:lnTo>
                <a:lnTo>
                  <a:pt x="5604976" y="3761603"/>
                </a:lnTo>
                <a:lnTo>
                  <a:pt x="0" y="376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97089" y="1671127"/>
            <a:ext cx="14962211" cy="145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15"/>
              </a:lnSpc>
              <a:spcBef>
                <a:spcPct val="0"/>
              </a:spcBef>
            </a:pPr>
            <a:r>
              <a:rPr lang="en-US" sz="8368">
                <a:solidFill>
                  <a:srgbClr val="FF4931"/>
                </a:solidFill>
                <a:latin typeface="Bobby Jones"/>
                <a:ea typeface="Bobby Jones"/>
                <a:cs typeface="Bobby Jones"/>
                <a:sym typeface="Bobby Jones"/>
              </a:rPr>
              <a:t>GLOBAL HEALTH INDICATOR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6875" y="3332480"/>
            <a:ext cx="15214250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Analyzing Socioeconomic,Environmental,and Health Trends Across Countries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19424" y="7310824"/>
            <a:ext cx="8231701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Varsha Patil    USN:2GI22EC180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Yash Sadalge    usn:2GI22EC189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230" y="-4251730"/>
            <a:ext cx="18790459" cy="18790459"/>
          </a:xfrm>
          <a:custGeom>
            <a:avLst/>
            <a:gdLst/>
            <a:ahLst/>
            <a:cxnLst/>
            <a:rect l="l" t="t" r="r" b="b"/>
            <a:pathLst>
              <a:path w="18790459" h="18790459">
                <a:moveTo>
                  <a:pt x="0" y="0"/>
                </a:moveTo>
                <a:lnTo>
                  <a:pt x="18790460" y="0"/>
                </a:lnTo>
                <a:lnTo>
                  <a:pt x="18790460" y="18790460"/>
                </a:lnTo>
                <a:lnTo>
                  <a:pt x="0" y="187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9066949" y="2852133"/>
            <a:ext cx="27606179" cy="495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</a:t>
            </a:r>
          </a:p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</a:t>
            </a:r>
          </a:p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AIM</a:t>
            </a:r>
          </a:p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</a:t>
            </a:r>
          </a:p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SURVEY </a:t>
            </a:r>
          </a:p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  <a:p>
            <a:pPr algn="ctr">
              <a:lnSpc>
                <a:spcPts val="4978"/>
              </a:lnSpc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  <a:p>
            <a:pPr algn="ctr">
              <a:lnSpc>
                <a:spcPts val="4978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230" y="-4251730"/>
            <a:ext cx="18790459" cy="18790459"/>
          </a:xfrm>
          <a:custGeom>
            <a:avLst/>
            <a:gdLst/>
            <a:ahLst/>
            <a:cxnLst/>
            <a:rect l="l" t="t" r="r" b="b"/>
            <a:pathLst>
              <a:path w="18790459" h="18790459">
                <a:moveTo>
                  <a:pt x="0" y="0"/>
                </a:moveTo>
                <a:lnTo>
                  <a:pt x="18790460" y="0"/>
                </a:lnTo>
                <a:lnTo>
                  <a:pt x="18790460" y="18790460"/>
                </a:lnTo>
                <a:lnTo>
                  <a:pt x="0" y="187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76043" y="812032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03337" y="3214215"/>
            <a:ext cx="15985481" cy="111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4931"/>
                </a:solidFill>
                <a:latin typeface="Bobby Jones"/>
                <a:ea typeface="Bobby Jones"/>
                <a:cs typeface="Bobby Jones"/>
                <a:sym typeface="Bobby Jones"/>
              </a:rPr>
              <a:t>INTRODUCTION: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043" y="4892828"/>
            <a:ext cx="16635047" cy="259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comprises the overall health and socioeconomic indicators across a variety of years for a number of countries. The scope of the metrics encompasses a wide range of statistics, from fertility rate and urbanization to life expectancy and unemployment rates, access to clean water, expenditure on healthcare, immunization levels, and exposure to  air pollution.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230" y="-4251730"/>
            <a:ext cx="18790459" cy="18790459"/>
          </a:xfrm>
          <a:custGeom>
            <a:avLst/>
            <a:gdLst/>
            <a:ahLst/>
            <a:cxnLst/>
            <a:rect l="l" t="t" r="r" b="b"/>
            <a:pathLst>
              <a:path w="18790459" h="18790459">
                <a:moveTo>
                  <a:pt x="0" y="0"/>
                </a:moveTo>
                <a:lnTo>
                  <a:pt x="18790460" y="0"/>
                </a:lnTo>
                <a:lnTo>
                  <a:pt x="18790460" y="18790460"/>
                </a:lnTo>
                <a:lnTo>
                  <a:pt x="0" y="187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6476" y="812032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08201" y="2911238"/>
            <a:ext cx="16457606" cy="20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03"/>
              </a:lnSpc>
              <a:spcBef>
                <a:spcPct val="0"/>
              </a:spcBef>
            </a:pPr>
            <a:r>
              <a:rPr lang="en-US" sz="11787">
                <a:solidFill>
                  <a:srgbClr val="FF4931"/>
                </a:solidFill>
                <a:latin typeface="Bobby Jones"/>
                <a:ea typeface="Bobby Jones"/>
                <a:cs typeface="Bobby Jones"/>
                <a:sym typeface="Bobby Jones"/>
              </a:rPr>
              <a:t>AIM :</a:t>
            </a:r>
          </a:p>
        </p:txBody>
      </p:sp>
      <p:sp>
        <p:nvSpPr>
          <p:cNvPr id="7" name="Freeform 7"/>
          <p:cNvSpPr/>
          <p:nvPr/>
        </p:nvSpPr>
        <p:spPr>
          <a:xfrm>
            <a:off x="13922526" y="1111013"/>
            <a:ext cx="3336774" cy="4114800"/>
          </a:xfrm>
          <a:custGeom>
            <a:avLst/>
            <a:gdLst/>
            <a:ahLst/>
            <a:cxnLst/>
            <a:rect l="l" t="t" r="r" b="b"/>
            <a:pathLst>
              <a:path w="3336774" h="4114800">
                <a:moveTo>
                  <a:pt x="0" y="0"/>
                </a:moveTo>
                <a:lnTo>
                  <a:pt x="3336774" y="0"/>
                </a:lnTo>
                <a:lnTo>
                  <a:pt x="33367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26476" y="5404765"/>
            <a:ext cx="16635047" cy="322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 the disparity between countries, and understand how </a:t>
            </a:r>
          </a:p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 indicators relate to each other. It seeks to give insights that</a:t>
            </a:r>
          </a:p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are actionable to researchers, policymakers,</a:t>
            </a:r>
          </a:p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organizations seeking to improve health outcomes across the globe and attain the SDGs.. The specific objectives are: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230" y="-4251730"/>
            <a:ext cx="18790459" cy="18790459"/>
          </a:xfrm>
          <a:custGeom>
            <a:avLst/>
            <a:gdLst/>
            <a:ahLst/>
            <a:cxnLst/>
            <a:rect l="l" t="t" r="r" b="b"/>
            <a:pathLst>
              <a:path w="18790459" h="18790459">
                <a:moveTo>
                  <a:pt x="0" y="0"/>
                </a:moveTo>
                <a:lnTo>
                  <a:pt x="18790460" y="0"/>
                </a:lnTo>
                <a:lnTo>
                  <a:pt x="18790460" y="18790460"/>
                </a:lnTo>
                <a:lnTo>
                  <a:pt x="0" y="187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6476" y="812032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385423" y="1053339"/>
            <a:ext cx="3873877" cy="4090161"/>
          </a:xfrm>
          <a:custGeom>
            <a:avLst/>
            <a:gdLst/>
            <a:ahLst/>
            <a:cxnLst/>
            <a:rect l="l" t="t" r="r" b="b"/>
            <a:pathLst>
              <a:path w="3873877" h="4090161">
                <a:moveTo>
                  <a:pt x="0" y="0"/>
                </a:moveTo>
                <a:lnTo>
                  <a:pt x="3873877" y="0"/>
                </a:lnTo>
                <a:lnTo>
                  <a:pt x="3873877" y="4090161"/>
                </a:lnTo>
                <a:lnTo>
                  <a:pt x="0" y="4090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76043" y="1946275"/>
            <a:ext cx="15985481" cy="111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4931"/>
                </a:solidFill>
                <a:latin typeface="Bobby Jones"/>
                <a:ea typeface="Bobby Jones"/>
                <a:cs typeface="Bobby Jones"/>
                <a:sym typeface="Bobby Jones"/>
              </a:rPr>
              <a:t>OBJECTIVES: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312686" y="3666805"/>
            <a:ext cx="20748427" cy="403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9"/>
              </a:lnSpc>
            </a:pPr>
            <a:r>
              <a:rPr lang="en-US" sz="51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·- Descriptive Analysis</a:t>
            </a:r>
          </a:p>
          <a:p>
            <a:pPr algn="ctr">
              <a:lnSpc>
                <a:spcPts val="7159"/>
              </a:lnSpc>
            </a:pPr>
            <a:r>
              <a:rPr lang="en-US" sz="51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·- Regional Disparities.</a:t>
            </a:r>
          </a:p>
          <a:p>
            <a:pPr algn="ctr">
              <a:lnSpc>
                <a:spcPts val="7159"/>
              </a:lnSpc>
            </a:pPr>
            <a:r>
              <a:rPr lang="en-US" sz="51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·- Predictive analysis and visualisation.</a:t>
            </a:r>
          </a:p>
          <a:p>
            <a:pPr algn="ctr">
              <a:lnSpc>
                <a:spcPts val="7159"/>
              </a:lnSpc>
            </a:pPr>
            <a:r>
              <a:rPr lang="en-US" sz="51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·Socioeconomic Development Analysis</a:t>
            </a:r>
          </a:p>
          <a:p>
            <a:pPr algn="ctr">
              <a:lnSpc>
                <a:spcPts val="3317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26476" y="812032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9447" y="971550"/>
            <a:ext cx="4762679" cy="59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8"/>
              </a:lnSpc>
              <a:spcBef>
                <a:spcPct val="0"/>
              </a:spcBef>
            </a:pPr>
            <a:r>
              <a:rPr lang="en-US" sz="35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SURVEY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28696" y="2928922"/>
          <a:ext cx="14359038" cy="5474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173"/>
                <a:gridCol w="2393173"/>
                <a:gridCol w="2393173"/>
                <a:gridCol w="2393173"/>
                <a:gridCol w="2393173"/>
                <a:gridCol w="2393173"/>
              </a:tblGrid>
              <a:tr h="1000132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REF NO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TITLE</a:t>
                      </a:r>
                      <a:r>
                        <a:rPr lang="en-US" sz="2000" baseline="0" dirty="0" smtClean="0"/>
                        <a:t>  OF THE PAPER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AUTHOR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PUBLISHED YEAR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FEATURES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00132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Global Health: Science and Practice Journal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Emily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Blynn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 Emily Harris, Melanie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Wendland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 Courtney Chang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November 2021,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Worked</a:t>
                      </a:r>
                      <a:r>
                        <a:rPr lang="en-US" baseline="0" dirty="0" smtClean="0"/>
                        <a:t> on countries </a:t>
                      </a:r>
                      <a:r>
                        <a:rPr lang="en-US" baseline="0" dirty="0" err="1" smtClean="0"/>
                        <a:t>mobility,fertility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00132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 burden of 87 risk factors in 204 countries and territories, 1990–2019: a systematic analysis for the Global Burden of Disease Study 2019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Shilpa</a:t>
                      </a:r>
                      <a:r>
                        <a:rPr lang="en-US" baseline="0" dirty="0" smtClean="0"/>
                        <a:t> das ,</a:t>
                      </a:r>
                      <a:r>
                        <a:rPr lang="en-US" baseline="0" dirty="0" err="1" smtClean="0"/>
                        <a:t>nikki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tylaor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October 17, 2020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Comparison between</a:t>
                      </a:r>
                      <a:r>
                        <a:rPr lang="en-US" baseline="0" dirty="0" smtClean="0"/>
                        <a:t>  countries and carbon dioxide concentration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001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1357285"/>
            <a:ext cx="61436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501190" y="714344"/>
            <a:ext cx="4071966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358446" y="857220"/>
            <a:ext cx="3286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</a:t>
            </a:r>
            <a:r>
              <a:rPr lang="en-US" dirty="0" smtClean="0">
                <a:solidFill>
                  <a:schemeClr val="bg1"/>
                </a:solidFill>
              </a:rPr>
              <a:t>Input Dataset (CSV)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 </a:t>
            </a:r>
            <a:r>
              <a:rPr lang="en-US" dirty="0" smtClean="0">
                <a:solidFill>
                  <a:schemeClr val="bg1"/>
                </a:solidFill>
              </a:rPr>
              <a:t>Global </a:t>
            </a:r>
            <a:r>
              <a:rPr lang="en-US" dirty="0" smtClean="0">
                <a:solidFill>
                  <a:schemeClr val="bg1"/>
                </a:solidFill>
              </a:rPr>
              <a:t>Health Indicators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Years, Countries, GDP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Life Expectancy, Health Exp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44066" y="2928922"/>
            <a:ext cx="3929090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929818" y="3214674"/>
            <a:ext cx="3500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Remove Missing Values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</a:t>
            </a:r>
            <a:r>
              <a:rPr lang="en-US" dirty="0" smtClean="0">
                <a:solidFill>
                  <a:schemeClr val="bg1"/>
                </a:solidFill>
              </a:rPr>
              <a:t>Handle </a:t>
            </a:r>
            <a:r>
              <a:rPr lang="en-US" dirty="0" smtClean="0">
                <a:solidFill>
                  <a:schemeClr val="bg1"/>
                </a:solidFill>
              </a:rPr>
              <a:t>Duplicates    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</a:t>
            </a:r>
            <a:r>
              <a:rPr lang="en-US" dirty="0" smtClean="0">
                <a:solidFill>
                  <a:schemeClr val="bg1"/>
                </a:solidFill>
              </a:rPr>
              <a:t>Normalize </a:t>
            </a:r>
            <a:r>
              <a:rPr lang="en-US" dirty="0" smtClean="0">
                <a:solidFill>
                  <a:schemeClr val="bg1"/>
                </a:solidFill>
              </a:rPr>
              <a:t>and Clean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29818" y="5286376"/>
            <a:ext cx="3786214" cy="135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58446" y="5357814"/>
            <a:ext cx="3214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chemeClr val="bg1"/>
                </a:solidFill>
              </a:rPr>
              <a:t>Data Analysis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Descriptive Statistics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Correlation </a:t>
            </a:r>
            <a:r>
              <a:rPr lang="en-US" dirty="0" smtClean="0">
                <a:solidFill>
                  <a:schemeClr val="bg1"/>
                </a:solidFill>
              </a:rPr>
              <a:t>Analysis 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Trend </a:t>
            </a:r>
            <a:r>
              <a:rPr lang="en-US" dirty="0" smtClean="0">
                <a:solidFill>
                  <a:schemeClr val="bg1"/>
                </a:solidFill>
              </a:rPr>
              <a:t>Analysis (Time Series)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786942" y="7215202"/>
            <a:ext cx="4000528" cy="1500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072694" y="7358078"/>
            <a:ext cx="3429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Data </a:t>
            </a:r>
            <a:r>
              <a:rPr lang="en-US" dirty="0" smtClean="0">
                <a:solidFill>
                  <a:schemeClr val="bg1"/>
                </a:solidFill>
              </a:rPr>
              <a:t>Visualization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Bar Charts           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Scatter </a:t>
            </a:r>
            <a:r>
              <a:rPr lang="en-US" dirty="0" smtClean="0">
                <a:solidFill>
                  <a:schemeClr val="bg1"/>
                </a:solidFill>
              </a:rPr>
              <a:t>Plots        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Heatmaps</a:t>
            </a:r>
            <a:r>
              <a:rPr lang="en-US" dirty="0" smtClean="0">
                <a:solidFill>
                  <a:schemeClr val="bg1"/>
                </a:solidFill>
              </a:rPr>
              <a:t>             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Line Graphs/Trends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28828" y="3000360"/>
            <a:ext cx="42410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Block </a:t>
            </a:r>
            <a:r>
              <a:rPr lang="en-US" sz="5400" b="1" dirty="0" err="1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daigram</a:t>
            </a:r>
            <a:endParaRPr lang="en-US" sz="54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230" y="-4251730"/>
            <a:ext cx="18790459" cy="18790459"/>
          </a:xfrm>
          <a:custGeom>
            <a:avLst/>
            <a:gdLst/>
            <a:ahLst/>
            <a:cxnLst/>
            <a:rect l="l" t="t" r="r" b="b"/>
            <a:pathLst>
              <a:path w="18790459" h="18790459">
                <a:moveTo>
                  <a:pt x="0" y="0"/>
                </a:moveTo>
                <a:lnTo>
                  <a:pt x="18790460" y="0"/>
                </a:lnTo>
                <a:lnTo>
                  <a:pt x="18790460" y="18790460"/>
                </a:lnTo>
                <a:lnTo>
                  <a:pt x="0" y="187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6476" y="812032"/>
            <a:ext cx="16635047" cy="8662936"/>
            <a:chOff x="0" y="0"/>
            <a:chExt cx="4381247" cy="22815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247" cy="2281596"/>
            </a:xfrm>
            <a:custGeom>
              <a:avLst/>
              <a:gdLst/>
              <a:ahLst/>
              <a:cxnLst/>
              <a:rect l="l" t="t" r="r" b="b"/>
              <a:pathLst>
                <a:path w="4381247" h="2281596">
                  <a:moveTo>
                    <a:pt x="0" y="0"/>
                  </a:moveTo>
                  <a:lnTo>
                    <a:pt x="4381247" y="0"/>
                  </a:lnTo>
                  <a:lnTo>
                    <a:pt x="4381247" y="2281596"/>
                  </a:lnTo>
                  <a:lnTo>
                    <a:pt x="0" y="2281596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81247" cy="231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73819" y="885825"/>
            <a:ext cx="15985481" cy="111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4931"/>
                </a:solidFill>
                <a:latin typeface="Bobby Jones"/>
                <a:ea typeface="Bobby Jones"/>
                <a:cs typeface="Bobby Jones"/>
                <a:sym typeface="Bobby Jones"/>
              </a:rPr>
              <a:t>METHOD: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3819" y="2483319"/>
            <a:ext cx="15193107" cy="780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4"/>
              </a:lnSpc>
            </a:pPr>
            <a:r>
              <a:rPr lang="en-US" sz="49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 or preprocessing</a:t>
            </a:r>
          </a:p>
          <a:p>
            <a:pPr algn="l">
              <a:lnSpc>
                <a:spcPts val="6924"/>
              </a:lnSpc>
            </a:pPr>
            <a:r>
              <a:rPr lang="en-US" sz="49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Exploratory Data Analysis (EDA)</a:t>
            </a:r>
          </a:p>
          <a:p>
            <a:pPr algn="l">
              <a:lnSpc>
                <a:spcPts val="6924"/>
              </a:lnSpc>
            </a:pPr>
            <a:r>
              <a:rPr lang="en-US" sz="49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 Identification</a:t>
            </a:r>
          </a:p>
          <a:p>
            <a:pPr algn="l">
              <a:lnSpc>
                <a:spcPts val="6924"/>
              </a:lnSpc>
            </a:pPr>
            <a:r>
              <a:rPr lang="en-US" sz="49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Correlation Analysis</a:t>
            </a:r>
          </a:p>
          <a:p>
            <a:pPr algn="l">
              <a:lnSpc>
                <a:spcPts val="6924"/>
              </a:lnSpc>
            </a:pPr>
            <a:r>
              <a:rPr lang="en-US" sz="49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.Regional and Country Comparisons</a:t>
            </a:r>
          </a:p>
          <a:p>
            <a:pPr algn="l">
              <a:lnSpc>
                <a:spcPts val="6924"/>
              </a:lnSpc>
            </a:pPr>
            <a:r>
              <a:rPr lang="en-US" sz="49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Clustering analysis</a:t>
            </a:r>
          </a:p>
          <a:p>
            <a:pPr algn="l">
              <a:lnSpc>
                <a:spcPts val="6924"/>
              </a:lnSpc>
            </a:pPr>
            <a:endParaRPr/>
          </a:p>
          <a:p>
            <a:pPr algn="l">
              <a:lnSpc>
                <a:spcPts val="6924"/>
              </a:lnSpc>
            </a:pPr>
            <a:endParaRPr/>
          </a:p>
          <a:p>
            <a:pPr algn="l">
              <a:lnSpc>
                <a:spcPts val="6924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317</Words>
  <Application>Microsoft Office PowerPoint</Application>
  <PresentationFormat>Custom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Bobby Jones</vt:lpstr>
      <vt:lpstr>Canva Sans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health indicator</dc:title>
  <cp:lastModifiedBy>Acer</cp:lastModifiedBy>
  <cp:revision>6</cp:revision>
  <dcterms:created xsi:type="dcterms:W3CDTF">2006-08-16T00:00:00Z</dcterms:created>
  <dcterms:modified xsi:type="dcterms:W3CDTF">2024-12-17T05:30:32Z</dcterms:modified>
  <dc:identifier>DAGZdo53vaE</dc:identifier>
</cp:coreProperties>
</file>